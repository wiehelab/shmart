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2"/>
    <p:sldId id="276" r:id="rId3"/>
    <p:sldId id="277" r:id="rId4"/>
    <p:sldId id="278" r:id="rId5"/>
    <p:sldId id="268" r:id="rId6"/>
    <p:sldId id="271" r:id="rId7"/>
    <p:sldId id="265" r:id="rId8"/>
    <p:sldId id="266" r:id="rId9"/>
    <p:sldId id="267" r:id="rId10"/>
    <p:sldId id="272" r:id="rId11"/>
    <p:sldId id="273" r:id="rId12"/>
    <p:sldId id="275" r:id="rId13"/>
    <p:sldId id="259" r:id="rId14"/>
    <p:sldId id="260" r:id="rId15"/>
    <p:sldId id="26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2975A-8474-BA46-99E5-383467E76FB6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27ABB9-96A5-FD44-AE8C-BF48A9337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810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ECBE3-1EB5-384D-B5F3-74EA744FB67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57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ECBE3-1EB5-384D-B5F3-74EA744FB67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7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CECBE3-1EB5-384D-B5F3-74EA744FB67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51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44254-B569-8696-CBAB-59927C1BE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946DC9-F107-3EC9-C8A0-F9756C61B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2090A-F1DB-F545-ED8C-92BD0CCB8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1F711-B8E0-B09F-C6B5-9636B6D54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D4DF7-4179-29EE-68DF-F2BDDECF7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3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F6090-B294-D8F2-EDDA-00DBF73C5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61EBB-C8E1-6091-79BC-0102D7CFE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3309E9-B64A-7BBA-1075-6610639DE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B7E0F-8BA1-5F05-F266-0728583A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FA8D1-A699-E07A-D9F3-3E2A885C5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08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0B567-4380-AA33-C1AF-0E9FAE1D7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A6B91-E963-AB76-245E-E8052A784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4B5C8-430A-EB0B-8C7A-13F102B32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FA8B3-9A42-D146-1976-C89ACDC0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8472C-39AF-388F-F688-654E5B45A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5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83C77-CCEB-057B-39BD-67D9F13D0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FBFD8-CD8C-F94C-753A-6EC6A0A28B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953C4-9891-2886-26BC-551449276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AD3B6-6765-3AF4-DDD0-71998DD8E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C515A-11E6-15AE-6326-D0E5672D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E61DE-B42D-EEC7-CBD9-AECBA7EE3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40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7175B-D7C8-C885-32E2-25C36090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BD211-AEEF-C4C4-3FF3-8BBAE7B46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4CF86-BE55-D7C0-9AF4-868B9862CB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02599-4E17-47C3-CF7B-45225B779F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EED4F0-D30E-B1EA-5CE6-9BC3E532E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1AC7C-576B-BAFE-3FC2-BF376638E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17D923-6FF7-6526-65FE-8FDECBBCC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729F87-6EB6-7CE7-5142-BA671909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609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0AA7-BADC-56E2-824B-A8F1B3F59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E0FB0-7BA4-DCE5-7424-DE2FFBC0B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5975B4-7014-5B43-2DB4-79C62B25E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30CB3A-9869-A7A8-DB57-F94845B9B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1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A1A87-11EE-CF78-63F1-6CE1B0D5F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08C99-4D36-7DE7-E15E-54867B0FC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170A2-46D4-432D-1CB7-B6D84F4BE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21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66336-65E9-9DE0-37A4-562E4D9C3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E943D-F96C-4C73-CB82-1BCCEB1DF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0F290A-BE58-3CF2-1F80-C515E1774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62616F-3F68-77EE-BE60-BB73126A4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E98E9-D829-8F11-E050-3385C854A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4E42A-901B-8DBD-6296-4F862732A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560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8646C-5E2F-2531-DA05-D1FC3953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94B19-1B4A-7476-0BDE-0768E52536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3EC212-9921-82F6-01B9-CC42EF378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3BF3FF-1644-0A88-2795-3EF0BE382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BA7587-95F0-8A59-3CE5-A4DE78B53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28C62-CFD0-BCEF-BFF0-93DBC4C5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19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9477-798D-61D9-8F96-1CF780534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C1CC36-7AA6-FE1F-48A2-666D1ADC9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90984-50BA-C52D-46F6-4390C00BC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F951C-028B-B1B4-7DF8-08CE2BBE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A55F-AEC4-11B8-73BA-7E70DD860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00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998504-7D98-A32E-4ABB-C97887AA0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5CE5C6-A21D-F142-8D33-20EAA2997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664E5-FD5F-C732-1433-B91D4BE97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78BED-EDD0-9870-8F77-569D5EAB2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EA682-4EA6-750A-2A3D-3212D208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57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BD0D1-F3AE-F9EF-32DC-DBF274E2D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AEDCC-09BD-468D-03E3-1DCB11AD3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0F703-8192-17DB-C64B-BDAC6DDA0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6E66C0-28DA-414C-A1F1-052BC9524E4E}" type="datetimeFigureOut">
              <a:rPr lang="en-US" smtClean="0"/>
              <a:t>4/15/26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CA3DF8-3946-2B32-11DE-2E8CF5E11A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6DCD2-86EC-0E79-D3AA-13E1F15BC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1C4CB8-C114-1A4C-9B65-29C103EC3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492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oxpig/ANARCI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C068-EEA6-D0A4-2DD8-C17A740020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effectLst/>
              </a:rPr>
              <a:t>Somatic </a:t>
            </a:r>
            <a:r>
              <a:rPr lang="en-US" dirty="0" err="1">
                <a:effectLst/>
              </a:rPr>
              <a:t>HyperMutation</a:t>
            </a:r>
            <a:r>
              <a:rPr lang="en-US" dirty="0">
                <a:effectLst/>
              </a:rPr>
              <a:t> Aware Reverse Translator</a:t>
            </a:r>
            <a:r>
              <a:rPr lang="en-US" dirty="0"/>
              <a:t> (SHMART)</a:t>
            </a:r>
          </a:p>
        </p:txBody>
      </p:sp>
    </p:spTree>
    <p:extLst>
      <p:ext uri="{BB962C8B-B14F-4D97-AF65-F5344CB8AC3E}">
        <p14:creationId xmlns:p14="http://schemas.microsoft.com/office/powerpoint/2010/main" val="2178141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E3F9B-CD47-D3FD-7274-DECCEB18E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00" y="263525"/>
            <a:ext cx="10515600" cy="67627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47A7D-C128-A111-5BB5-CB15B0FF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939800"/>
            <a:ext cx="11493500" cy="565467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/>
              <a:t>Goal: </a:t>
            </a:r>
            <a:r>
              <a:rPr lang="en-US" sz="2400" dirty="0"/>
              <a:t>To reverse translate an IgG sequence from amino acid to nucleotide in a codon aware way using alignment to germline AA V and J sequences enabling (a) germline codons for non-mutated positions (b) most probable codons according to AID mutation and substitution estimates ( c) randomly chosen codons for the parts of CDR3 that don’t align to V or J. </a:t>
            </a:r>
          </a:p>
          <a:p>
            <a:pPr marL="0" indent="0" algn="just">
              <a:buNone/>
            </a:pPr>
            <a:r>
              <a:rPr lang="en-US" sz="2400" b="1" dirty="0"/>
              <a:t>Limitations: </a:t>
            </a:r>
            <a:r>
              <a:rPr lang="en-US" sz="2400" dirty="0"/>
              <a:t>There is no inference about V/J trimming in the CDR3, D encoded codons, or N nucleotide encoded codons. There is a risk of assuming a longer J contribution to the CDR3 than is actually there. </a:t>
            </a:r>
          </a:p>
          <a:p>
            <a:pPr marL="0" indent="0" algn="just">
              <a:buNone/>
            </a:pPr>
            <a:r>
              <a:rPr lang="en-US" sz="2400" b="1" dirty="0"/>
              <a:t>Considerations: </a:t>
            </a:r>
            <a:r>
              <a:rPr lang="en-US" sz="2400" dirty="0"/>
              <a:t>It is recommended to pre-filter the input AA sequences using ANARCI to check for the presence of the expected CCW/F amino acids. This will avoid unnecessary computational resources and improve the performance of the RT script. </a:t>
            </a:r>
          </a:p>
          <a:p>
            <a:pPr marL="0" indent="0" algn="just">
              <a:buNone/>
            </a:pPr>
            <a:r>
              <a:rPr lang="en-US" sz="2400" b="1" dirty="0"/>
              <a:t>Potential updates:  </a:t>
            </a:r>
            <a:r>
              <a:rPr lang="en-US" sz="2400" dirty="0"/>
              <a:t>Currently, random codons are picked for the non V and J aligned parts of the CDR3. In theory, they could be chosen from a distribution of codon usage in the CDR3 built from actual data.</a:t>
            </a:r>
            <a:r>
              <a:rPr lang="en-US" sz="2400" b="1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12127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F89AC1-7A33-9192-FF04-F24D2A8A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3275"/>
          </a:xfrm>
        </p:spPr>
        <p:txBody>
          <a:bodyPr/>
          <a:lstStyle/>
          <a:p>
            <a:r>
              <a:rPr lang="en-US" b="1" dirty="0"/>
              <a:t>Overview of Script Usage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E46C5-14E2-C25E-B687-EC763691C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68400"/>
            <a:ext cx="11938000" cy="54229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Run </a:t>
            </a:r>
            <a:r>
              <a:rPr lang="en-US" dirty="0" err="1"/>
              <a:t>Anarci</a:t>
            </a:r>
            <a:r>
              <a:rPr lang="en-US" dirty="0"/>
              <a:t> using the –IMGT option and the –csv output option. [ Information about ANARCI and software download is here: </a:t>
            </a:r>
            <a:r>
              <a:rPr lang="en-US" dirty="0">
                <a:hlinkClick r:id="rId2"/>
              </a:rPr>
              <a:t>https://github.com/oxpig/ANARCI</a:t>
            </a:r>
            <a:r>
              <a:rPr lang="en-US" dirty="0"/>
              <a:t>]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Parse the ANARCI results using </a:t>
            </a:r>
            <a:r>
              <a:rPr lang="en-US" b="1" dirty="0" err="1"/>
              <a:t>parse.anarci.py</a:t>
            </a:r>
            <a:r>
              <a:rPr lang="en-US" dirty="0"/>
              <a:t>. This function returns a CSV file that has a row for each input AA </a:t>
            </a:r>
            <a:r>
              <a:rPr lang="en-US" dirty="0" err="1"/>
              <a:t>fasta</a:t>
            </a:r>
            <a:r>
              <a:rPr lang="en-US" dirty="0"/>
              <a:t> sequence, the amino acid or gap character at the expected CC[WF] positions according to IMGT numbering, and a True/False column that is *True* if the CC[WF] requirements are met, and *False* if not. If less stringent requirements of the critical CC[WF] positions were desired, the output csv could be parsed for that. 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Using the output from </a:t>
            </a:r>
            <a:r>
              <a:rPr lang="en-US" dirty="0" err="1"/>
              <a:t>parse.anarci.py</a:t>
            </a:r>
            <a:r>
              <a:rPr lang="en-US" dirty="0"/>
              <a:t>, the sequences from the input AA </a:t>
            </a:r>
            <a:r>
              <a:rPr lang="en-US" dirty="0" err="1"/>
              <a:t>fasta</a:t>
            </a:r>
            <a:r>
              <a:rPr lang="en-US" dirty="0"/>
              <a:t> file that satisfy the conditions can be extracted for the next step. </a:t>
            </a:r>
          </a:p>
        </p:txBody>
      </p:sp>
    </p:spTree>
    <p:extLst>
      <p:ext uri="{BB962C8B-B14F-4D97-AF65-F5344CB8AC3E}">
        <p14:creationId xmlns:p14="http://schemas.microsoft.com/office/powerpoint/2010/main" val="2018108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C92E-5327-00CE-8BA1-482D43BA3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Script Usage [continued]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55703-FB5C-A9C9-3C99-D177E9F79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825625"/>
            <a:ext cx="10972800" cy="4351338"/>
          </a:xfrm>
        </p:spPr>
        <p:txBody>
          <a:bodyPr/>
          <a:lstStyle/>
          <a:p>
            <a:pPr marL="514350" indent="-514350">
              <a:buAutoNum type="arabicPeriod" startAt="4"/>
            </a:pPr>
            <a:r>
              <a:rPr lang="en-US" dirty="0"/>
              <a:t>Call the Reverse Translate script with the filtered input sequences. </a:t>
            </a:r>
          </a:p>
          <a:p>
            <a:pPr marL="514350" indent="-514350">
              <a:buAutoNum type="arabicPeriod" startAt="4"/>
            </a:pPr>
            <a:r>
              <a:rPr lang="en-US" dirty="0"/>
              <a:t> Use the sequences that are successfully reverse translated for further analysis.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4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7D38-D021-B901-4236-5A1E0C64F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7679"/>
            <a:ext cx="10515600" cy="1325563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3D88-90B7-BD41-8FE1-A212F7E09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4739"/>
            <a:ext cx="10515600" cy="57978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1. Run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Anarci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(IMGT)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2. Use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parse.anarci.py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– To filter Functional sequences (invariant CCW/F)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parse.anarci.py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[-h] -a PATH_ANARCI -o OUT_FILE -c {</a:t>
            </a:r>
            <a:r>
              <a:rPr lang="en-U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heavy,light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b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options: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-h, --help            show this help message and exit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-a PATH_ANARCI, --</a:t>
            </a:r>
            <a:r>
              <a:rPr lang="en-U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path_anarci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PATH_ANARCI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    path to the input ANANRCI heavy chain csv file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-o OUT_FILE, --</a:t>
            </a:r>
            <a:r>
              <a:rPr lang="en-U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out_file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OUT_FILE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    name of the </a:t>
            </a:r>
            <a:r>
              <a:rPr lang="en-U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outfile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-c {</a:t>
            </a:r>
            <a:r>
              <a:rPr lang="en-U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heavy,light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}, --chain {</a:t>
            </a:r>
            <a:r>
              <a:rPr lang="en-US" sz="18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heavy,light</a:t>
            </a: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    the expected chain of the sequence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BAD7E6E-E755-ABAE-EC6E-79A4564515CF}"/>
              </a:ext>
            </a:extLst>
          </p:cNvPr>
          <p:cNvSpPr/>
          <p:nvPr/>
        </p:nvSpPr>
        <p:spPr>
          <a:xfrm>
            <a:off x="8497408" y="1107884"/>
            <a:ext cx="422030" cy="517233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99F6D-E6B7-5B79-5D57-3F616C2C4F96}"/>
              </a:ext>
            </a:extLst>
          </p:cNvPr>
          <p:cNvSpPr txBox="1"/>
          <p:nvPr/>
        </p:nvSpPr>
        <p:spPr>
          <a:xfrm>
            <a:off x="8915141" y="3509386"/>
            <a:ext cx="327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(Optional but Recommended)</a:t>
            </a:r>
          </a:p>
        </p:txBody>
      </p:sp>
    </p:spTree>
    <p:extLst>
      <p:ext uri="{BB962C8B-B14F-4D97-AF65-F5344CB8AC3E}">
        <p14:creationId xmlns:p14="http://schemas.microsoft.com/office/powerpoint/2010/main" val="4116335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F7D38-D021-B901-4236-5A1E0C64F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7679"/>
            <a:ext cx="10515600" cy="1325563"/>
          </a:xfrm>
        </p:spPr>
        <p:txBody>
          <a:bodyPr/>
          <a:lstStyle/>
          <a:p>
            <a:r>
              <a:rPr lang="en-US" dirty="0"/>
              <a:t>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3D88-90B7-BD41-8FE1-A212F7E09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4739"/>
            <a:ext cx="10515600" cy="579789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Run </a:t>
            </a:r>
            <a:r>
              <a:rPr lang="en-US" sz="1800" b="1" dirty="0" err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Anarci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(IMGT)</a:t>
            </a:r>
          </a:p>
          <a:p>
            <a:pPr marL="0" indent="0">
              <a:buNone/>
            </a:pPr>
            <a:endParaRPr lang="en-US" sz="1800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Use </a:t>
            </a:r>
            <a:r>
              <a:rPr lang="en-US" sz="1800" b="1" dirty="0" err="1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parse.anarci.py</a:t>
            </a:r>
            <a:r>
              <a:rPr lang="en-US" sz="1800" b="1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 To filter Functional sequences (invariant CCW/F)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usage: 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parse.anarci.py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[-h] -a PATH_ANARCI -o OUT_FILE -c {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heavy,light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b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800" dirty="0">
              <a:solidFill>
                <a:schemeClr val="bg2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options: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-h, --help            show this help message and exit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-a PATH_ANARCI, --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path_anarci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PATH_ANARCI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    path to the input ANANRCI heavy chain 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csvfile</a:t>
            </a:r>
            <a:endParaRPr lang="en-US" sz="1800" dirty="0">
              <a:solidFill>
                <a:schemeClr val="bg2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-o OUT_FILE, --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out_file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OUT_FILE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    name of the 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outfile</a:t>
            </a:r>
            <a:endParaRPr lang="en-US" sz="1800" dirty="0">
              <a:solidFill>
                <a:schemeClr val="bg2">
                  <a:lumMod val="7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-c {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heavy,light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}, --chain {</a:t>
            </a:r>
            <a:r>
              <a:rPr lang="en-US" sz="1800" dirty="0" err="1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heavy,light</a:t>
            </a: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2">
                    <a:lumMod val="7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            the expected chain of the sequence</a:t>
            </a:r>
          </a:p>
          <a:p>
            <a:pPr marL="0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3. Run </a:t>
            </a:r>
            <a:r>
              <a:rPr lang="en-US" sz="2600" b="1" dirty="0" err="1">
                <a:latin typeface="Arial" panose="020B0604020202020204" pitchFamily="34" charset="0"/>
                <a:cs typeface="Arial" panose="020B0604020202020204" pitchFamily="34" charset="0"/>
              </a:rPr>
              <a:t>SHMART.job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script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   a.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SemiGlobal_aligner_and_Mutation_caller.py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(V and J)</a:t>
            </a:r>
          </a:p>
          <a:p>
            <a:pPr marL="0" indent="0">
              <a:buNone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      b. SHMART.R script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3BAD7E6E-E755-ABAE-EC6E-79A4564515CF}"/>
              </a:ext>
            </a:extLst>
          </p:cNvPr>
          <p:cNvSpPr/>
          <p:nvPr/>
        </p:nvSpPr>
        <p:spPr>
          <a:xfrm>
            <a:off x="8189407" y="1107884"/>
            <a:ext cx="422030" cy="3805760"/>
          </a:xfrm>
          <a:prstGeom prst="rightBrac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99F6D-E6B7-5B79-5D57-3F616C2C4F96}"/>
              </a:ext>
            </a:extLst>
          </p:cNvPr>
          <p:cNvSpPr txBox="1"/>
          <p:nvPr/>
        </p:nvSpPr>
        <p:spPr>
          <a:xfrm>
            <a:off x="8708423" y="2826098"/>
            <a:ext cx="3276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75000"/>
                  </a:schemeClr>
                </a:solidFill>
              </a:rPr>
              <a:t>(Optional but Recommended)</a:t>
            </a:r>
          </a:p>
        </p:txBody>
      </p:sp>
    </p:spTree>
    <p:extLst>
      <p:ext uri="{BB962C8B-B14F-4D97-AF65-F5344CB8AC3E}">
        <p14:creationId xmlns:p14="http://schemas.microsoft.com/office/powerpoint/2010/main" val="3795034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D87A7-73B6-7298-017B-5483A4AA1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1886"/>
            <a:ext cx="10998758" cy="5785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Third step -  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Usage - </a:t>
            </a:r>
            <a:r>
              <a:rPr lang="en-US" sz="2000" dirty="0" err="1"/>
              <a:t>sbatch</a:t>
            </a:r>
            <a:r>
              <a:rPr lang="en-US" sz="2000" dirty="0"/>
              <a:t> </a:t>
            </a:r>
            <a:r>
              <a:rPr lang="en-US" sz="2000" dirty="0" err="1"/>
              <a:t>SHMART.job</a:t>
            </a:r>
            <a:r>
              <a:rPr lang="en-US" sz="2000" dirty="0"/>
              <a:t> [OPTIONS]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  Required Options:</a:t>
            </a:r>
          </a:p>
          <a:p>
            <a:pPr marL="0" indent="0">
              <a:buNone/>
            </a:pPr>
            <a:r>
              <a:rPr lang="en-US" sz="2000" dirty="0"/>
              <a:t>    -q &lt;FILE&gt;      Path to the query amino acid FASTA</a:t>
            </a:r>
          </a:p>
          <a:p>
            <a:pPr marL="0" indent="0">
              <a:buNone/>
            </a:pPr>
            <a:r>
              <a:rPr lang="en-US" sz="2000" dirty="0"/>
              <a:t>    -t &lt;TYPE&gt;      Chain type: "heavy" or "light"</a:t>
            </a:r>
          </a:p>
          <a:p>
            <a:pPr marL="0" indent="0">
              <a:buNone/>
            </a:pPr>
            <a:r>
              <a:rPr lang="en-US" sz="2000" dirty="0"/>
              <a:t>    -d &lt;DIR&gt;       Directory containing reference files and scripts</a:t>
            </a:r>
          </a:p>
          <a:p>
            <a:pPr marL="0" indent="0">
              <a:buNone/>
            </a:pPr>
            <a:r>
              <a:rPr lang="en-US" sz="2000" dirty="0"/>
              <a:t>    -T &lt;FILE&gt;      Output file for "True" translations (e.g. </a:t>
            </a:r>
            <a:r>
              <a:rPr lang="en-US" sz="2000" dirty="0" err="1"/>
              <a:t>ReverseTranslated.True.txt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    -F &lt;FILE&gt;      Output file for "False/Failed" translations (e.g. </a:t>
            </a:r>
            <a:r>
              <a:rPr lang="en-US" sz="2000" dirty="0" err="1"/>
              <a:t>ReverseTranslated.FAILED.txt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    -A &lt;FILE&gt;      Output FASTA of successfully translated sequences (e.g. </a:t>
            </a:r>
            <a:r>
              <a:rPr lang="en-US" sz="2000" dirty="0" err="1"/>
              <a:t>ReverseTranslated.True.fasta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    -h             Show this help message and exit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91F12E-3F10-D77C-5B9D-500C6D41D1F7}"/>
              </a:ext>
            </a:extLst>
          </p:cNvPr>
          <p:cNvSpPr txBox="1"/>
          <p:nvPr/>
        </p:nvSpPr>
        <p:spPr>
          <a:xfrm>
            <a:off x="2343806" y="391886"/>
            <a:ext cx="90099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You can run 3a and 3b as a single job using the </a:t>
            </a:r>
            <a:r>
              <a:rPr lang="en-US" dirty="0" err="1">
                <a:effectLst/>
              </a:rPr>
              <a:t>SHMART.job</a:t>
            </a:r>
            <a:r>
              <a:rPr lang="en-US" dirty="0">
                <a:effectLst/>
              </a:rPr>
              <a:t> or use the individual commands on the next 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7841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33B7220-6DBA-E3F6-2A95-40D132E74F7A}"/>
              </a:ext>
            </a:extLst>
          </p:cNvPr>
          <p:cNvSpPr txBox="1"/>
          <p:nvPr/>
        </p:nvSpPr>
        <p:spPr>
          <a:xfrm>
            <a:off x="1316334" y="1901546"/>
            <a:ext cx="994786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usage: </a:t>
            </a:r>
            <a:r>
              <a:rPr lang="en-US" sz="20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SemiGlobal_aligner_and_Mutation_caller.py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[-h] --query QUERY --ref REF --output OUTPUT [--threads THREADS]</a:t>
            </a:r>
          </a:p>
          <a:p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 sequences and compute mutations (semi-global) in parallel.</a:t>
            </a:r>
          </a:p>
          <a:p>
            <a:endParaRPr lang="en-US" sz="20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options: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-h, --help         show this help message and exit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--query QUERY      Path to the query FASTA file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--ref REF          Path to the reference AA FASTA file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--output OUTPUT    Path for output </a:t>
            </a:r>
          </a:p>
          <a:p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 --threads THREADS  Number of parallel worker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D7255D-5EB9-A83B-A0BB-C24429285736}"/>
              </a:ext>
            </a:extLst>
          </p:cNvPr>
          <p:cNvSpPr txBox="1"/>
          <p:nvPr/>
        </p:nvSpPr>
        <p:spPr>
          <a:xfrm>
            <a:off x="1316334" y="1109247"/>
            <a:ext cx="4993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3a. Semi-Global alignment and Mutation caller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385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060EBB-915C-4B80-B181-78FE76D73866}"/>
              </a:ext>
            </a:extLst>
          </p:cNvPr>
          <p:cNvSpPr txBox="1"/>
          <p:nvPr/>
        </p:nvSpPr>
        <p:spPr>
          <a:xfrm>
            <a:off x="606250" y="968726"/>
            <a:ext cx="1119386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3b. SHMART.R</a:t>
            </a:r>
          </a:p>
          <a:p>
            <a:endParaRPr lang="en-US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Usage: </a:t>
            </a:r>
            <a:r>
              <a:rPr lang="en-US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Rscript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SHMART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.R [MUTATION_CALLER_OUTPUT_VREGION] [MUTATION_CALLER_OUTPUT_JREGION] [POOLED_REFERENCE_NUC_FASTA] [QUERY_AA_FASTA] [POOLED_REFERENCE_AA_FASTA] [FIVEMER_SUB_CSV] [OUTPUT_TRUE_TRANSLATIONS] [OUTPUT_FALSE_TRANSLATIONS] [OUTPUT_FASTA]</a:t>
            </a:r>
          </a:p>
          <a:p>
            <a:b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Parameters: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MUTATION_CALLER_OUTPUT_VREGION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V region mutation caller output file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MUTATION_CALLER_OUTPUT_JREGION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J region mutation caller output file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POOLED_REFERENCE_NUC_FASTA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FASTA of pooled reference nucleotide sequences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QUERY_AA_FASTA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FASTA of query amino acid sequences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POOLED_REFERENCE_AA_FASTA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FASTA of pooled reference amino acid sequences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FIVEMER_SUB_CSV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CSV of five-</a:t>
            </a:r>
            <a:r>
              <a:rPr lang="en-US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mer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substitution probabilities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OUTPUT_TRUE_TRANSLATIONS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Output file for valid reverse translations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OUTPUT_FALSE_TRANSLATIONS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Output file for invalid reverse translations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  </a:t>
            </a:r>
            <a:r>
              <a:rPr lang="en-US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OUTPUT_FASTA</a:t>
            </a:r>
            <a:r>
              <a:rPr lang="en-US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Output FASTA file</a:t>
            </a:r>
          </a:p>
        </p:txBody>
      </p:sp>
    </p:spTree>
    <p:extLst>
      <p:ext uri="{BB962C8B-B14F-4D97-AF65-F5344CB8AC3E}">
        <p14:creationId xmlns:p14="http://schemas.microsoft.com/office/powerpoint/2010/main" val="3313269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DD27D1-EAE5-A32A-C4C5-51D8AE4D056F}"/>
              </a:ext>
            </a:extLst>
          </p:cNvPr>
          <p:cNvSpPr txBox="1"/>
          <p:nvPr/>
        </p:nvSpPr>
        <p:spPr>
          <a:xfrm>
            <a:off x="306522" y="153378"/>
            <a:ext cx="115789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Crosscheck results - </a:t>
            </a:r>
            <a:r>
              <a:rPr lang="en-US" sz="2000" b="1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VRegion</a:t>
            </a:r>
            <a:r>
              <a:rPr lang="en-US" sz="20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96CD79-B8E3-0BEF-7AD5-566B25F3F924}"/>
              </a:ext>
            </a:extLst>
          </p:cNvPr>
          <p:cNvSpPr txBox="1"/>
          <p:nvPr/>
        </p:nvSpPr>
        <p:spPr>
          <a:xfrm>
            <a:off x="350855" y="4951284"/>
            <a:ext cx="1149029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 amino acid matches between the GML and the known sequence, the reverse-translated codon is the same as the GML codon.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there is an amino acid change, the RT script chooses a codon that requires the minimal number of nucleotide changes from the GML codon (i.e., minimal mutational path).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Verifying that the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Known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RT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rows have no unintended non-synonymous changes confirms that the reverse translation script is functioning correctly.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D729E-3CDC-18AE-86A4-D30CD4E1C724}"/>
              </a:ext>
            </a:extLst>
          </p:cNvPr>
          <p:cNvSpPr txBox="1"/>
          <p:nvPr/>
        </p:nvSpPr>
        <p:spPr>
          <a:xfrm>
            <a:off x="7257355" y="0"/>
            <a:ext cx="4770523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b="1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Seq 1 (GML):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reference (germline) nucleotide(</a:t>
            </a: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IGHV1-69*01)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sequence.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Seq 2 (Known):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known (input) nucleotide sequence.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Seq 3 (RT):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reverse-translated sequence derived from the translating known sequence.</a:t>
            </a:r>
            <a:endParaRPr lang="en-US" sz="1600" b="1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Mutations between GML and translated Known sequence –</a:t>
            </a:r>
          </a:p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A9T-K23E-G27D-S30T-Y32H-S35N-Q43H-G50R-I52T-G56A-A58T-N59H-K63Q-T71I-E74T-R98S</a:t>
            </a:r>
          </a:p>
        </p:txBody>
      </p:sp>
      <p:pic>
        <p:nvPicPr>
          <p:cNvPr id="4" name="Picture 3" descr="A chart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4106C8C1-EF7B-ADE6-BCC5-C75E6A6DE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03" y="879651"/>
            <a:ext cx="6423471" cy="355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234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FD295A-3A86-9CC6-3411-0BF86B55397B}"/>
              </a:ext>
            </a:extLst>
          </p:cNvPr>
          <p:cNvSpPr txBox="1"/>
          <p:nvPr/>
        </p:nvSpPr>
        <p:spPr>
          <a:xfrm>
            <a:off x="306521" y="391057"/>
            <a:ext cx="115789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Crosscheck results - </a:t>
            </a:r>
            <a:r>
              <a:rPr lang="en-US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Region</a:t>
            </a:r>
            <a:r>
              <a:rPr lang="en-US" sz="18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18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8F8A6C-4E0B-4534-830A-B55872FA7812}"/>
              </a:ext>
            </a:extLst>
          </p:cNvPr>
          <p:cNvSpPr txBox="1"/>
          <p:nvPr/>
        </p:nvSpPr>
        <p:spPr>
          <a:xfrm>
            <a:off x="3049675" y="2831348"/>
            <a:ext cx="60993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5BC2C4-1CC9-22C8-B643-A11FC6FF2ABF}"/>
              </a:ext>
            </a:extLst>
          </p:cNvPr>
          <p:cNvSpPr txBox="1"/>
          <p:nvPr/>
        </p:nvSpPr>
        <p:spPr>
          <a:xfrm>
            <a:off x="350855" y="4951284"/>
            <a:ext cx="1149029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the amino acid matches between the GML and the known sequence, the reverse-translated codon is the same as the GML codon.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When there is an amino acid change, the RT script chooses a codon that requires the minimal number of nucleotide changes from the GML codon (i.e., minimal mutational path).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Verifying that the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Known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RT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rows have no unintended non-synonymous changes confirms that the reverse translation script is functioning correctly.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D9779-5A13-1D2F-87A8-F288D076B5EA}"/>
              </a:ext>
            </a:extLst>
          </p:cNvPr>
          <p:cNvSpPr txBox="1"/>
          <p:nvPr/>
        </p:nvSpPr>
        <p:spPr>
          <a:xfrm>
            <a:off x="8155944" y="391057"/>
            <a:ext cx="403605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b="1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Seq 1 (GML):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reference (germline) nucleotide(</a:t>
            </a: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IGHJ6*01)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sequence.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Seq 2 (Known):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known (input) nucleotide sequence. </a:t>
            </a:r>
          </a:p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Seq 3 (RT):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The reverse-translated sequence derived from the translating known sequence.</a:t>
            </a:r>
            <a:endParaRPr lang="en-US" sz="1600" b="1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b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Mutations between GML and translated Known sequence –</a:t>
            </a:r>
          </a:p>
          <a:p>
            <a:endParaRPr lang="en-US" sz="1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Y100T-Y101T-Y102E-G105R-Q111H-T116I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D17D1A68-3EDB-8E36-31AC-5CC00DA17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619" y="812048"/>
            <a:ext cx="73025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66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DC09F-0059-CC96-8970-FCE57EBC7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5951" y="2294286"/>
            <a:ext cx="3791415" cy="1325563"/>
          </a:xfrm>
        </p:spPr>
        <p:txBody>
          <a:bodyPr/>
          <a:lstStyle/>
          <a:p>
            <a:pPr algn="ctr"/>
            <a:r>
              <a:rPr lang="en-US" b="1" dirty="0"/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3128723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53150-6A24-AC23-4E68-1E4EC70562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983"/>
            <a:ext cx="10971508" cy="649379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Reads and processes alignment results and FASTA sequences for both V and J regions.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Identify Mutations (semi-global alignment):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Compare input sequence with a germline sequence to identify and analyze mutations.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each position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check if amino acids differ between input and germline sequence.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If different, analyze the mutation at that position.</a:t>
            </a:r>
          </a:p>
          <a:p>
            <a:pPr marL="457200" lvl="1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Minimal Nucleotide Changes: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Determine minimal nucleotide changes needed for mutations and calculate associated probabilities.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For each mutation, find the codons involved (both Input and germline).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Calculate minimal nucleotide changes required to transition to each possible codon. Select the codon with the least changes.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Mutation: AAA (Lysine) -&gt; ACA (Threonine)</a:t>
            </a:r>
          </a:p>
          <a:p>
            <a:pPr marL="457200" lvl="1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Path 1: AAA -&gt; ACA (1 change: A to C) ;  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	Path 2: AAA -&gt; ATA -&gt; ACA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Generate Mutation Paths: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Create all possible nucleotide change paths.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Create paths representing series of single nucleotide changes. For each differing position, generate paths considering one change at a time.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Select the path with minimal changes.</a:t>
            </a:r>
          </a:p>
          <a:p>
            <a:pPr marL="457200" lvl="1" indent="0">
              <a:buNone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379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95C60-3C45-70F5-CEB1-3F5F597E4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217" y="449451"/>
            <a:ext cx="10515600" cy="54950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Probability Calculations In case of ties: </a:t>
            </a:r>
            <a:b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Steps to Get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Kmers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Based on Change: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Identify Positions of Change: Determine positions in the nucleotide sequence where changes occurred.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Define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Kmer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Length: Typically includes the two bases before and after the position of change.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Sliding Window for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Kmers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Extract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kmers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around each change position using a sliding window.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Extract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Kmers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: For each position of change, extract the substring corresponding to the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kmer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length. Look up the probability of this change in the context of the </a:t>
            </a:r>
            <a:r>
              <a:rPr lang="en-US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kmer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from substitution/mutability data.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Total Probability for a Path: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Calculate total probability by multiplying individual probabilities of nucleotide changes.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Compare probabilities of different paths and select the highest.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7ED8F-9964-9483-4467-F4737F2CEC4B}"/>
              </a:ext>
            </a:extLst>
          </p:cNvPr>
          <p:cNvSpPr txBox="1"/>
          <p:nvPr/>
        </p:nvSpPr>
        <p:spPr>
          <a:xfrm>
            <a:off x="-63977" y="5222406"/>
            <a:ext cx="123199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Step Probability(P) = (Current </a:t>
            </a:r>
            <a:r>
              <a:rPr lang="en-US" sz="2000" b="1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Kmer</a:t>
            </a:r>
            <a:r>
              <a:rPr lang="en-US" sz="20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mutability / Sum all </a:t>
            </a:r>
            <a:r>
              <a:rPr lang="en-US" sz="2000" b="1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Kmers</a:t>
            </a:r>
            <a:r>
              <a:rPr lang="en-US" sz="20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mutability​) × </a:t>
            </a:r>
            <a:r>
              <a:rPr lang="en-US" sz="2000" b="1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mutability_current_nucleotide_change</a:t>
            </a:r>
            <a:br>
              <a:rPr lang="en-US" sz="20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0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b="1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Total_Probability</a:t>
            </a:r>
            <a:r>
              <a:rPr lang="en-US" sz="2000" b="1" dirty="0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= P1 x P2 x …. x </a:t>
            </a:r>
            <a:r>
              <a:rPr lang="en-US" sz="2000" b="1" dirty="0" err="1">
                <a:solidFill>
                  <a:schemeClr val="accent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Pn</a:t>
            </a:r>
            <a:endParaRPr lang="en-US" sz="2000" b="1" dirty="0">
              <a:solidFill>
                <a:schemeClr val="accent3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004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paper with writing on it&#10;&#10;Description automatically generated">
            <a:extLst>
              <a:ext uri="{FF2B5EF4-FFF2-40B4-BE49-F238E27FC236}">
                <a16:creationId xmlns:a16="http://schemas.microsoft.com/office/drawing/2014/main" id="{A35F77C2-481A-4C03-E11D-3E377F8794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81" t="3917" r="19442" b="18252"/>
          <a:stretch/>
        </p:blipFill>
        <p:spPr>
          <a:xfrm>
            <a:off x="339773" y="1239864"/>
            <a:ext cx="11295478" cy="45975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EB75F1-DFB4-412D-FE12-5B52BD7CC187}"/>
              </a:ext>
            </a:extLst>
          </p:cNvPr>
          <p:cNvSpPr txBox="1"/>
          <p:nvPr/>
        </p:nvSpPr>
        <p:spPr>
          <a:xfrm>
            <a:off x="339773" y="495946"/>
            <a:ext cx="33939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ACG (THR) -&gt; TTG/CTG (LEU)</a:t>
            </a:r>
          </a:p>
        </p:txBody>
      </p:sp>
    </p:spTree>
    <p:extLst>
      <p:ext uri="{BB962C8B-B14F-4D97-AF65-F5344CB8AC3E}">
        <p14:creationId xmlns:p14="http://schemas.microsoft.com/office/powerpoint/2010/main" val="168834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1828</Words>
  <Application>Microsoft Macintosh PowerPoint</Application>
  <PresentationFormat>Widescreen</PresentationFormat>
  <Paragraphs>142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Menlo</vt:lpstr>
      <vt:lpstr>Office Theme</vt:lpstr>
      <vt:lpstr>Somatic HyperMutation Aware Reverse Translator (SHMART)</vt:lpstr>
      <vt:lpstr>Goals</vt:lpstr>
      <vt:lpstr>Overview of Script Usage</vt:lpstr>
      <vt:lpstr>Overview of Script Usage [continued] </vt:lpstr>
      <vt:lpstr>Steps</vt:lpstr>
      <vt:lpstr>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Sravani Venkatayogi</dc:creator>
  <cp:lastModifiedBy>Sravani Venkatayogi</cp:lastModifiedBy>
  <cp:revision>2</cp:revision>
  <dcterms:created xsi:type="dcterms:W3CDTF">2026-04-15T18:49:36Z</dcterms:created>
  <dcterms:modified xsi:type="dcterms:W3CDTF">2026-04-15T19:02:11Z</dcterms:modified>
</cp:coreProperties>
</file>